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007592231e4034" /><Relationship Type="http://schemas.openxmlformats.org/officeDocument/2006/relationships/extended-properties" Target="/docProps/app.xml" Id="R0402e0751ed84014" /><Relationship Type="http://schemas.openxmlformats.org/officeDocument/2006/relationships/officeDocument" Target="/ppt/presentation.xml" Id="R1cb634ea41ba41d2" /></Relationships>
</file>

<file path=ppt/presentation.xml><?xml version="1.0" encoding="utf-8"?>
<p:presentation xmlns:p="http://schemas.openxmlformats.org/presentationml/2006/main">
  <p:sldMasterIdLst>
    <p:sldMasterId xmlns:r="http://schemas.openxmlformats.org/officeDocument/2006/relationships" id="2147483648" r:id="R1dd0ccffbcb24cbd"/>
  </p:sldMasterIdLst>
  <p:notesMasterIdLst>
    <p:notesMasterId xmlns:r="http://schemas.openxmlformats.org/officeDocument/2006/relationships" r:id="R29e96cffcb3c45c7"/>
  </p:notesMasterIdLst>
  <p:sldIdLst>
    <p:sldId xmlns:r="http://schemas.openxmlformats.org/officeDocument/2006/relationships" id="256" r:id="R48f7003d0e394fa9"/>
    <p:sldId xmlns:r="http://schemas.openxmlformats.org/officeDocument/2006/relationships" id="257" r:id="Re274b528415946d7"/>
    <p:sldId xmlns:r="http://schemas.openxmlformats.org/officeDocument/2006/relationships" id="258" r:id="R4fbe1b8d09474f2e"/>
    <p:sldId xmlns:r="http://schemas.openxmlformats.org/officeDocument/2006/relationships" id="259" r:id="Rf7b9d53f96f6498f"/>
    <p:sldId xmlns:r="http://schemas.openxmlformats.org/officeDocument/2006/relationships" id="260" r:id="R7c990b2dbbfc43de"/>
    <p:sldId xmlns:r="http://schemas.openxmlformats.org/officeDocument/2006/relationships" id="261" r:id="R2715ed68aefc4e09"/>
    <p:sldId xmlns:r="http://schemas.openxmlformats.org/officeDocument/2006/relationships" id="262" r:id="R4e449cbee4a54336"/>
    <p:sldId xmlns:r="http://schemas.openxmlformats.org/officeDocument/2006/relationships" id="263" r:id="Rb024112a0ebe4f2c"/>
    <p:sldId xmlns:r="http://schemas.openxmlformats.org/officeDocument/2006/relationships" id="264" r:id="Rfb65a7f327214120"/>
    <p:sldId xmlns:r="http://schemas.openxmlformats.org/officeDocument/2006/relationships" id="265" r:id="Rb2ba1c03b648445b"/>
    <p:sldId xmlns:r="http://schemas.openxmlformats.org/officeDocument/2006/relationships" id="266" r:id="R152add34b18f43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9561dc64e34111" /><Relationship Type="http://schemas.openxmlformats.org/officeDocument/2006/relationships/slideMaster" Target="/ppt/slideMasters/slideMaster1.xml" Id="R1dd0ccffbcb24cbd" /><Relationship Type="http://schemas.openxmlformats.org/officeDocument/2006/relationships/notesMaster" Target="/ppt/notesMasters/notesMaster1.xml" Id="R29e96cffcb3c45c7" /><Relationship Type="http://schemas.openxmlformats.org/officeDocument/2006/relationships/presProps" Target="/ppt/presProps.xml" Id="Rf0fa0ae0d5f34b30" /><Relationship Type="http://schemas.openxmlformats.org/officeDocument/2006/relationships/tableStyles" Target="/ppt/tableStyles.xml" Id="Rd63d3eadba1147e1" /><Relationship Type="http://schemas.openxmlformats.org/officeDocument/2006/relationships/slide" Target="/ppt/slides/slide1.xml" Id="R48f7003d0e394fa9" /><Relationship Type="http://schemas.openxmlformats.org/officeDocument/2006/relationships/slide" Target="/ppt/slides/slide2.xml" Id="Re274b528415946d7" /><Relationship Type="http://schemas.openxmlformats.org/officeDocument/2006/relationships/slide" Target="/ppt/slides/slide3.xml" Id="R4fbe1b8d09474f2e" /><Relationship Type="http://schemas.openxmlformats.org/officeDocument/2006/relationships/slide" Target="/ppt/slides/slide4.xml" Id="Rf7b9d53f96f6498f" /><Relationship Type="http://schemas.openxmlformats.org/officeDocument/2006/relationships/slide" Target="/ppt/slides/slide5.xml" Id="R7c990b2dbbfc43de" /><Relationship Type="http://schemas.openxmlformats.org/officeDocument/2006/relationships/slide" Target="/ppt/slides/slide6.xml" Id="R2715ed68aefc4e09" /><Relationship Type="http://schemas.openxmlformats.org/officeDocument/2006/relationships/slide" Target="/ppt/slides/slide7.xml" Id="R4e449cbee4a54336" /><Relationship Type="http://schemas.openxmlformats.org/officeDocument/2006/relationships/slide" Target="/ppt/slides/slide8.xml" Id="Rb024112a0ebe4f2c" /><Relationship Type="http://schemas.openxmlformats.org/officeDocument/2006/relationships/slide" Target="/ppt/slides/slide9.xml" Id="Rfb65a7f327214120" /><Relationship Type="http://schemas.openxmlformats.org/officeDocument/2006/relationships/slide" Target="/ppt/slides/slide10.xml" Id="Rb2ba1c03b648445b" /><Relationship Type="http://schemas.openxmlformats.org/officeDocument/2006/relationships/slide" Target="/ppt/slides/slide11.xml" Id="R152add34b18f43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936108fa1743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1376bdf6dd4309" /><Relationship Type="http://schemas.openxmlformats.org/officeDocument/2006/relationships/notesMaster" Target="/ppt/notesMasters/notesMaster1.xml" Id="Rca838ff19aaa46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6da05f0d4c4082" /><Relationship Type="http://schemas.openxmlformats.org/officeDocument/2006/relationships/notesMaster" Target="/ppt/notesMasters/notesMaster1.xml" Id="R396bf21daf344f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ebe2569cd44418" /><Relationship Type="http://schemas.openxmlformats.org/officeDocument/2006/relationships/notesMaster" Target="/ppt/notesMasters/notesMaster1.xml" Id="R81bc263acd1f42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77e2fd35014fb0" /><Relationship Type="http://schemas.openxmlformats.org/officeDocument/2006/relationships/notesMaster" Target="/ppt/notesMasters/notesMaster1.xml" Id="Rdf814b74959947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5717ffb1774558" /><Relationship Type="http://schemas.openxmlformats.org/officeDocument/2006/relationships/notesMaster" Target="/ppt/notesMasters/notesMaster1.xml" Id="R07defed7f0284d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c440e4d12a4e22" /><Relationship Type="http://schemas.openxmlformats.org/officeDocument/2006/relationships/notesMaster" Target="/ppt/notesMasters/notesMaster1.xml" Id="Rb2ef291ce7c045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c65e1e0b644d39" /><Relationship Type="http://schemas.openxmlformats.org/officeDocument/2006/relationships/notesMaster" Target="/ppt/notesMasters/notesMaster1.xml" Id="R5a68f675c8e349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56a07e25f14ba4" /><Relationship Type="http://schemas.openxmlformats.org/officeDocument/2006/relationships/notesMaster" Target="/ppt/notesMasters/notesMaster1.xml" Id="R1b75941cdf3347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def409266e44a9" /><Relationship Type="http://schemas.openxmlformats.org/officeDocument/2006/relationships/notesMaster" Target="/ppt/notesMasters/notesMaster1.xml" Id="Raedd0329020346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c165ba9003491a" /><Relationship Type="http://schemas.openxmlformats.org/officeDocument/2006/relationships/notesMaster" Target="/ppt/notesMasters/notesMaster1.xml" Id="R76ed8a0d71ed45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dc279aa1ac403f" /><Relationship Type="http://schemas.openxmlformats.org/officeDocument/2006/relationships/notesMaster" Target="/ppt/notesMasters/notesMaster1.xml" Id="R9decf5143ec34f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application, the users, and the delivery architecture.</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a synthetic VPN issue. Show requester, category, priority, assignment, and status changes. Existing task records survive the additive migration.</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component using the actual repository. Tests use SQLite in isolation; the application uses PostgreSQL.</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serves static assets and proxies /api. ALB can also route /api directly to FastAPI. Secrets provide database credentials. This is a classroom deployment with no user login.</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source push triggers tests, frontend build, Helm and Terraform validation, two container builds, Trivy scans, and GHCR publishing. Findings with a fix at HIGH/CRITICAL block publication; unfixed findings remain a limitation.</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Terraform declares these resources. Show actual apply output and the AWS console when available. Charges continue until cleanup. EKS version support: https://docs.aws.amazon.com/eks/latest/userguide/kubernetes-versions.html</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Argo CD renders the Helm chart and reconciles the desired image SHA from Git. It does not create a Helm release history. A separate direct Helm demonstration provides helm list evidence. Source: https://argo-cd.readthedocs.io/en/stable/user-guide/helm/</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Prometheus Targets UP and populated Grafana panels. Generate API traffic before opening the dashboard. Do not present an empty panel as live evidence.</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disposable namespace. Diagnose the wrong image using describe/events. Diagnose a selector mismatch using labels and EndpointSlices. Repair the cause, verify readiness, and delete the lab.</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real validation record and evidence logs. Report failed or blocked cloud checks honestly. The user requested destruction after validation. Terraform does not own ALBs and EBS volumes created by Kubernetes controllers.</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what you learned in your own words, then begin the live demonstration. The project adapts the instructor starter into an IT helpdesk rather than claiming the reference as an original application.</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b591b6766246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6e67ee3f0744e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45176c2e6ff4a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d8d1a34fd3549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f93f9347b64a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c042528ca34c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13FA95-858E-4F2F-9426-317134A4320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FF1F6A1-46AC-411C-B560-319CD9376E1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03E080B-6D3F-402F-9B54-AFB83C69B47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09507A-1108-4378-9AF6-CD82EB4000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653AEF0-5FF3-4AD6-929B-FC3A801928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0AE441-CD30-4D29-B755-3A89C62DF0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3CDDB2-850C-4F5B-A10B-CA4CAB3851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644695-1C64-4D93-8395-00449228ED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71B83E-9CD0-46FE-ADBA-CD91B071E7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180E5B-E7BC-45A7-B45B-702F5E63AEC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bb309f8206464e" /><Relationship Type="http://schemas.openxmlformats.org/officeDocument/2006/relationships/slideLayout" Target="/ppt/slideLayouts/slideLayout1.xml" Id="R3fa17c7d0d7c46be" /><Relationship Type="http://schemas.openxmlformats.org/officeDocument/2006/relationships/slideLayout" Target="/ppt/slideLayouts/slideLayout2.xml" Id="Rc2ff0a57940e449b" /><Relationship Type="http://schemas.openxmlformats.org/officeDocument/2006/relationships/slideLayout" Target="/ppt/slideLayouts/slideLayout3.xml" Id="R13aee509e9e54f82" /><Relationship Type="http://schemas.openxmlformats.org/officeDocument/2006/relationships/slideLayout" Target="/ppt/slideLayouts/slideLayout4.xml" Id="R78ed8bff075c47f8" /><Relationship Type="http://schemas.openxmlformats.org/officeDocument/2006/relationships/slideLayout" Target="/ppt/slideLayouts/slideLayout5.xml" Id="Rb138339bbcec412a" /><Relationship Type="http://schemas.openxmlformats.org/officeDocument/2006/relationships/slideLayout" Target="/ppt/slideLayouts/slideLayout6.xml" Id="Re44d7a85ea814e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a17c7d0d7c46be"/>
    <p:sldLayoutId xmlns:r="http://schemas.openxmlformats.org/officeDocument/2006/relationships" id="2147483650" r:id="Rc2ff0a57940e449b"/>
    <p:sldLayoutId xmlns:r="http://schemas.openxmlformats.org/officeDocument/2006/relationships" id="2147483651" r:id="R13aee509e9e54f82"/>
    <p:sldLayoutId xmlns:r="http://schemas.openxmlformats.org/officeDocument/2006/relationships" id="2147483652" r:id="R78ed8bff075c47f8"/>
    <p:sldLayoutId xmlns:r="http://schemas.openxmlformats.org/officeDocument/2006/relationships" id="2147483653" r:id="Rb138339bbcec412a"/>
    <p:sldLayoutId xmlns:r="http://schemas.openxmlformats.org/officeDocument/2006/relationships" id="2147483654" r:id="Re44d7a85ea814e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b9e22c397cf4a9e" /><Relationship Type="http://schemas.openxmlformats.org/officeDocument/2006/relationships/notesSlide" Target="/ppt/notesSlides/notesSlide1.xml" Id="R947584316b734c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06e14fc00104ced" /><Relationship Type="http://schemas.openxmlformats.org/officeDocument/2006/relationships/notesSlide" Target="/ppt/notesSlides/notesSlide2.xml" Id="R91c20f28eba04c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12fc90dfb1b41ef" /><Relationship Type="http://schemas.openxmlformats.org/officeDocument/2006/relationships/notesSlide" Target="/ppt/notesSlides/notesSlide3.xml" Id="Re02b4dbe0cfa43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868ed370aa472b" /><Relationship Type="http://schemas.openxmlformats.org/officeDocument/2006/relationships/notesSlide" Target="/ppt/notesSlides/notesSlide4.xml" Id="R92b4e2b9f80044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8d2d9ff67fc43b1" /><Relationship Type="http://schemas.openxmlformats.org/officeDocument/2006/relationships/notesSlide" Target="/ppt/notesSlides/notesSlide5.xml" Id="R1bfa7b3213e14a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fabff72f71b485a" /><Relationship Type="http://schemas.openxmlformats.org/officeDocument/2006/relationships/notesSlide" Target="/ppt/notesSlides/notesSlide6.xml" Id="Rb75c4ed0328243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530c31ce7874d6e" /><Relationship Type="http://schemas.openxmlformats.org/officeDocument/2006/relationships/notesSlide" Target="/ppt/notesSlides/notesSlide7.xml" Id="R4d47913ea6ee42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c170bcae19b450e" /><Relationship Type="http://schemas.openxmlformats.org/officeDocument/2006/relationships/notesSlide" Target="/ppt/notesSlides/notesSlide8.xml" Id="R76396af64ce74e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8b0515ab3045ab" /><Relationship Type="http://schemas.openxmlformats.org/officeDocument/2006/relationships/notesSlide" Target="/ppt/notesSlides/notesSlide9.xml" Id="R845be41d89d346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a488cab00074c25" /><Relationship Type="http://schemas.openxmlformats.org/officeDocument/2006/relationships/notesSlide" Target="/ppt/notesSlides/notesSlide10.xml" Id="R20bba22bb3c64e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29914da49b44583" /><Relationship Type="http://schemas.openxmlformats.org/officeDocument/2006/relationships/notesSlide" Target="/ppt/notesSlides/notesSlide11.xml" Id="R16d39711c9bf4e80" /></Relationships>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81B8CB0-96C1-483A-B646-42E67D1A4F00}"/>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HeroDesk</a:t>
            </a:r>
          </a:p>
        </p:txBody>
      </p:sp>
      <p:sp>
        <p:nvSpPr>
          <p:cNvPr id="2" name="">
            <a:extLst xmlns:a="http://schemas.openxmlformats.org/drawingml/2006/main">
              <a:ext uri="{FF2B5EF4-FFF2-40B4-BE49-F238E27FC236}">
                <a16:creationId xmlns:a16="http://schemas.microsoft.com/office/drawing/2014/main" id="{851FB30F-D839-489C-8260-379B8A8E436B}"/>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00E6648-2BE6-47C7-B2CB-BF0346E51673}"/>
              </a:ext>
            </a:extLst>
          </p:cNvPr>
          <p:cNvSpPr>
            <a:spLocks xmlns:a="http://schemas.openxmlformats.org/drawingml/2006/main" noGrp="1"/>
          </p:cNvSpPr>
          <p:nvPr/>
        </p:nvSpPr>
        <p:spPr>
          <a:xfrm xmlns:a="http://schemas.openxmlformats.org/drawingml/2006/main">
            <a:off x="685800" y="2190750"/>
            <a:ext cx="1047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650" b="1">
                <a:solidFill>
                  <a:srgbClr val="176B70"/>
                </a:solidFill>
                <a:latin typeface="Arial"/>
                <a:ea typeface="Arial"/>
                <a:cs typeface="Arial"/>
              </a:defRPr>
            </a:defPPr>
          </a:lstStyle>
          <a:p xmlns:a="http://schemas.openxmlformats.org/drawingml/2006/main">
            <a:pPr>
              <a:defRPr sz="4650" b="1">
                <a:solidFill>
                  <a:srgbClr val="176B70"/>
                </a:solidFill>
                <a:latin typeface="Arial"/>
                <a:ea typeface="Arial"/>
                <a:cs typeface="Arial"/>
              </a:defRPr>
            </a:pPr>
            <a:r>
              <a:rPr sz="4650" b="1">
                <a:solidFill>
                  <a:srgbClr val="176B70"/>
                </a:solidFill>
                <a:latin typeface="Arial"/>
                <a:ea typeface="Arial"/>
                <a:cs typeface="Arial"/>
              </a:rPr>
              <a:t>IT support, delivered through DevSecOps</a:t>
            </a:r>
          </a:p>
        </p:txBody>
      </p:sp>
      <p:sp>
        <p:nvSpPr>
          <p:cNvPr id="4" name="">
            <a:extLst xmlns:a="http://schemas.openxmlformats.org/drawingml/2006/main">
              <a:ext uri="{FF2B5EF4-FFF2-40B4-BE49-F238E27FC236}">
                <a16:creationId xmlns:a16="http://schemas.microsoft.com/office/drawing/2014/main" id="{162BB909-7922-48C8-BA9F-F9A9961FA3FF}"/>
              </a:ext>
            </a:extLst>
          </p:cNvPr>
          <p:cNvSpPr>
            <a:spLocks xmlns:a="http://schemas.openxmlformats.org/drawingml/2006/main" noGrp="1"/>
          </p:cNvSpPr>
          <p:nvPr/>
        </p:nvSpPr>
        <p:spPr>
          <a:xfrm xmlns:a="http://schemas.openxmlformats.org/drawingml/2006/main">
            <a:off x="723900" y="42862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Sachith Reddy</a:t>
            </a:r>
          </a:p>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DevOps &amp; Cloud Engineering - Session 21</a:t>
            </a:r>
          </a:p>
        </p:txBody>
      </p:sp>
    </p:spTree>
    <p:extLst>
      <p:ext uri="{BB962C8B-B14F-4D97-AF65-F5344CB8AC3E}">
        <p14:creationId xmlns:p14="http://schemas.microsoft.com/office/powerpoint/2010/main" val="1001809950"/>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DDF2CAD-682E-486B-BC31-174AFFD5960D}"/>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Support ticket workflow</a:t>
            </a:r>
          </a:p>
        </p:txBody>
      </p:sp>
      <p:sp>
        <p:nvSpPr>
          <p:cNvPr id="2" name="">
            <a:extLst xmlns:a="http://schemas.openxmlformats.org/drawingml/2006/main">
              <a:ext uri="{FF2B5EF4-FFF2-40B4-BE49-F238E27FC236}">
                <a16:creationId xmlns:a16="http://schemas.microsoft.com/office/drawing/2014/main" id="{0413ACA1-E025-4F59-8F1F-EBA0D377CDE3}"/>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3F8ABE0E-9399-4E73-9AAC-74E9BF03D003}"/>
              </a:ext>
            </a:extLst>
          </p:cNvPr>
          <p:cNvSpPr>
            <a:spLocks xmlns:a="http://schemas.openxmlformats.org/drawingml/2006/main" noGrp="1"/>
          </p:cNvSpPr>
          <p:nvPr/>
        </p:nvSpPr>
        <p:spPr>
          <a:xfrm xmlns:a="http://schemas.openxmlformats.org/drawingml/2006/main">
            <a:off x="685800" y="176212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Staff report an issue with a requester and category.</a:t>
            </a:r>
          </a:p>
        </p:txBody>
      </p:sp>
      <p:sp>
        <p:nvSpPr>
          <p:cNvPr id="4" name="">
            <a:extLst xmlns:a="http://schemas.openxmlformats.org/drawingml/2006/main">
              <a:ext uri="{FF2B5EF4-FFF2-40B4-BE49-F238E27FC236}">
                <a16:creationId xmlns:a16="http://schemas.microsoft.com/office/drawing/2014/main" id="{13141F30-4160-4AA8-9DAD-E3E49FBFC1CA}"/>
              </a:ext>
            </a:extLst>
          </p:cNvPr>
          <p:cNvSpPr>
            <a:spLocks xmlns:a="http://schemas.openxmlformats.org/drawingml/2006/main" noGrp="1"/>
          </p:cNvSpPr>
          <p:nvPr/>
        </p:nvSpPr>
        <p:spPr>
          <a:xfrm xmlns:a="http://schemas.openxmlformats.org/drawingml/2006/main">
            <a:off x="685800" y="26670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Support engineers assign priority and ownership.</a:t>
            </a:r>
          </a:p>
        </p:txBody>
      </p:sp>
      <p:sp>
        <p:nvSpPr>
          <p:cNvPr id="5" name="">
            <a:extLst xmlns:a="http://schemas.openxmlformats.org/drawingml/2006/main">
              <a:ext uri="{FF2B5EF4-FFF2-40B4-BE49-F238E27FC236}">
                <a16:creationId xmlns:a16="http://schemas.microsoft.com/office/drawing/2014/main" id="{04386AE1-3826-41FF-9173-1D38F42BBDCA}"/>
              </a:ext>
            </a:extLst>
          </p:cNvPr>
          <p:cNvSpPr>
            <a:spLocks xmlns:a="http://schemas.openxmlformats.org/drawingml/2006/main" noGrp="1"/>
          </p:cNvSpPr>
          <p:nvPr/>
        </p:nvSpPr>
        <p:spPr>
          <a:xfrm xmlns:a="http://schemas.openxmlformats.org/drawingml/2006/main">
            <a:off x="685800" y="357187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Open tickets move through Working to Resolved.</a:t>
            </a:r>
          </a:p>
        </p:txBody>
      </p:sp>
      <p:sp>
        <p:nvSpPr>
          <p:cNvPr id="6" name="">
            <a:extLst xmlns:a="http://schemas.openxmlformats.org/drawingml/2006/main">
              <a:ext uri="{FF2B5EF4-FFF2-40B4-BE49-F238E27FC236}">
                <a16:creationId xmlns:a16="http://schemas.microsoft.com/office/drawing/2014/main" id="{18D6C767-7633-4BDE-9BD9-01D17AAC0550}"/>
              </a:ext>
            </a:extLst>
          </p:cNvPr>
          <p:cNvSpPr>
            <a:spLocks xmlns:a="http://schemas.openxmlformats.org/drawingml/2006/main" noGrp="1"/>
          </p:cNvSpPr>
          <p:nvPr/>
        </p:nvSpPr>
        <p:spPr>
          <a:xfrm xmlns:a="http://schemas.openxmlformats.org/drawingml/2006/main">
            <a:off x="685800" y="44767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Filters and live counters help engineers review the queue.</a:t>
            </a:r>
          </a:p>
        </p:txBody>
      </p:sp>
    </p:spTree>
    <p:extLst>
      <p:ext uri="{BB962C8B-B14F-4D97-AF65-F5344CB8AC3E}">
        <p14:creationId xmlns:p14="http://schemas.microsoft.com/office/powerpoint/2010/main" val="1091307841"/>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61AE940-471B-47EB-9717-C4ACC8A34785}"/>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Technology stack</a:t>
            </a:r>
          </a:p>
        </p:txBody>
      </p:sp>
      <p:sp>
        <p:nvSpPr>
          <p:cNvPr id="2" name="">
            <a:extLst xmlns:a="http://schemas.openxmlformats.org/drawingml/2006/main">
              <a:ext uri="{FF2B5EF4-FFF2-40B4-BE49-F238E27FC236}">
                <a16:creationId xmlns:a16="http://schemas.microsoft.com/office/drawing/2014/main" id="{308D03F7-C3F7-46CA-87BF-F4EB14D4D762}"/>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C0084F3-4D64-429F-A0DE-F085B4EE8055}"/>
              </a:ext>
            </a:extLst>
          </p:cNvPr>
          <p:cNvSpPr>
            <a:spLocks xmlns:a="http://schemas.openxmlformats.org/drawingml/2006/main" noGrp="1"/>
          </p:cNvSpPr>
          <p:nvPr/>
        </p:nvSpPr>
        <p:spPr>
          <a:xfrm xmlns:a="http://schemas.openxmlformats.org/drawingml/2006/main">
            <a:off x="685800" y="17145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6B70"/>
                </a:solidFill>
                <a:latin typeface="Arial"/>
                <a:ea typeface="Arial"/>
                <a:cs typeface="Arial"/>
              </a:defRPr>
            </a:defPPr>
          </a:lstStyle>
          <a:p xmlns:a="http://schemas.openxmlformats.org/drawingml/2006/main">
            <a:pPr>
              <a:defRPr sz="2550" b="1">
                <a:solidFill>
                  <a:srgbClr val="176B70"/>
                </a:solidFill>
                <a:latin typeface="Arial"/>
                <a:ea typeface="Arial"/>
                <a:cs typeface="Arial"/>
              </a:defRPr>
            </a:pPr>
            <a:r>
              <a:rPr sz="2550" b="1">
                <a:solidFill>
                  <a:srgbClr val="176B70"/>
                </a:solidFill>
                <a:latin typeface="Arial"/>
                <a:ea typeface="Arial"/>
                <a:cs typeface="Arial"/>
              </a:rPr>
              <a:t>Application</a:t>
            </a:r>
          </a:p>
        </p:txBody>
      </p:sp>
      <p:sp>
        <p:nvSpPr>
          <p:cNvPr id="4" name="">
            <a:extLst xmlns:a="http://schemas.openxmlformats.org/drawingml/2006/main">
              <a:ext uri="{FF2B5EF4-FFF2-40B4-BE49-F238E27FC236}">
                <a16:creationId xmlns:a16="http://schemas.microsoft.com/office/drawing/2014/main" id="{E59015D1-7DE0-4004-A255-8CE98DF89A1F}"/>
              </a:ext>
            </a:extLst>
          </p:cNvPr>
          <p:cNvSpPr>
            <a:spLocks xmlns:a="http://schemas.openxmlformats.org/drawingml/2006/main" noGrp="1"/>
          </p:cNvSpPr>
          <p:nvPr/>
        </p:nvSpPr>
        <p:spPr>
          <a:xfrm xmlns:a="http://schemas.openxmlformats.org/drawingml/2006/main">
            <a:off x="685800" y="247650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React and Vite</a:t>
            </a:r>
          </a:p>
        </p:txBody>
      </p:sp>
      <p:sp>
        <p:nvSpPr>
          <p:cNvPr id="5" name="">
            <a:extLst xmlns:a="http://schemas.openxmlformats.org/drawingml/2006/main">
              <a:ext uri="{FF2B5EF4-FFF2-40B4-BE49-F238E27FC236}">
                <a16:creationId xmlns:a16="http://schemas.microsoft.com/office/drawing/2014/main" id="{5E504004-2659-47B3-9271-6C641E5C84CE}"/>
              </a:ext>
            </a:extLst>
          </p:cNvPr>
          <p:cNvSpPr>
            <a:spLocks xmlns:a="http://schemas.openxmlformats.org/drawingml/2006/main" noGrp="1"/>
          </p:cNvSpPr>
          <p:nvPr/>
        </p:nvSpPr>
        <p:spPr>
          <a:xfrm xmlns:a="http://schemas.openxmlformats.org/drawingml/2006/main">
            <a:off x="685800" y="32194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FastAPI and SQLAlchemy</a:t>
            </a:r>
          </a:p>
        </p:txBody>
      </p:sp>
      <p:sp>
        <p:nvSpPr>
          <p:cNvPr id="6" name="">
            <a:extLst xmlns:a="http://schemas.openxmlformats.org/drawingml/2006/main">
              <a:ext uri="{FF2B5EF4-FFF2-40B4-BE49-F238E27FC236}">
                <a16:creationId xmlns:a16="http://schemas.microsoft.com/office/drawing/2014/main" id="{4C61513C-FAE9-4FD9-B58B-AC11C3C89A76}"/>
              </a:ext>
            </a:extLst>
          </p:cNvPr>
          <p:cNvSpPr>
            <a:spLocks xmlns:a="http://schemas.openxmlformats.org/drawingml/2006/main" noGrp="1"/>
          </p:cNvSpPr>
          <p:nvPr/>
        </p:nvSpPr>
        <p:spPr>
          <a:xfrm xmlns:a="http://schemas.openxmlformats.org/drawingml/2006/main">
            <a:off x="685800" y="396240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PostgreSQL and Alembic</a:t>
            </a:r>
          </a:p>
        </p:txBody>
      </p:sp>
      <p:sp>
        <p:nvSpPr>
          <p:cNvPr id="7" name="">
            <a:extLst xmlns:a="http://schemas.openxmlformats.org/drawingml/2006/main">
              <a:ext uri="{FF2B5EF4-FFF2-40B4-BE49-F238E27FC236}">
                <a16:creationId xmlns:a16="http://schemas.microsoft.com/office/drawing/2014/main" id="{60A2809D-A507-43E3-9F5D-CA1284224EB5}"/>
              </a:ext>
            </a:extLst>
          </p:cNvPr>
          <p:cNvSpPr>
            <a:spLocks xmlns:a="http://schemas.openxmlformats.org/drawingml/2006/main" noGrp="1"/>
          </p:cNvSpPr>
          <p:nvPr/>
        </p:nvSpPr>
        <p:spPr>
          <a:xfrm xmlns:a="http://schemas.openxmlformats.org/drawingml/2006/main">
            <a:off x="685800" y="47053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Pytest: isolated test databases</a:t>
            </a:r>
          </a:p>
        </p:txBody>
      </p:sp>
      <p:sp>
        <p:nvSpPr>
          <p:cNvPr id="8" name="">
            <a:extLst xmlns:a="http://schemas.openxmlformats.org/drawingml/2006/main">
              <a:ext uri="{FF2B5EF4-FFF2-40B4-BE49-F238E27FC236}">
                <a16:creationId xmlns:a16="http://schemas.microsoft.com/office/drawing/2014/main" id="{4571300D-8B0A-4F97-8D45-00D20210E4A9}"/>
              </a:ext>
            </a:extLst>
          </p:cNvPr>
          <p:cNvSpPr>
            <a:spLocks xmlns:a="http://schemas.openxmlformats.org/drawingml/2006/main" noGrp="1"/>
          </p:cNvSpPr>
          <p:nvPr/>
        </p:nvSpPr>
        <p:spPr>
          <a:xfrm xmlns:a="http://schemas.openxmlformats.org/drawingml/2006/main">
            <a:off x="6572250" y="171450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6B70"/>
                </a:solidFill>
                <a:latin typeface="Arial"/>
                <a:ea typeface="Arial"/>
                <a:cs typeface="Arial"/>
              </a:defRPr>
            </a:defPPr>
          </a:lstStyle>
          <a:p xmlns:a="http://schemas.openxmlformats.org/drawingml/2006/main">
            <a:pPr>
              <a:defRPr sz="2550" b="1">
                <a:solidFill>
                  <a:srgbClr val="176B70"/>
                </a:solidFill>
                <a:latin typeface="Arial"/>
                <a:ea typeface="Arial"/>
                <a:cs typeface="Arial"/>
              </a:defRPr>
            </a:pPr>
            <a:r>
              <a:rPr sz="2550" b="1">
                <a:solidFill>
                  <a:srgbClr val="176B70"/>
                </a:solidFill>
                <a:latin typeface="Arial"/>
                <a:ea typeface="Arial"/>
                <a:cs typeface="Arial"/>
              </a:rPr>
              <a:t>Delivery and operations</a:t>
            </a:r>
          </a:p>
        </p:txBody>
      </p:sp>
      <p:sp>
        <p:nvSpPr>
          <p:cNvPr id="9" name="">
            <a:extLst xmlns:a="http://schemas.openxmlformats.org/drawingml/2006/main">
              <a:ext uri="{FF2B5EF4-FFF2-40B4-BE49-F238E27FC236}">
                <a16:creationId xmlns:a16="http://schemas.microsoft.com/office/drawing/2014/main" id="{1FF89758-A2E6-4152-9039-432544373647}"/>
              </a:ext>
            </a:extLst>
          </p:cNvPr>
          <p:cNvSpPr>
            <a:spLocks xmlns:a="http://schemas.openxmlformats.org/drawingml/2006/main" noGrp="1"/>
          </p:cNvSpPr>
          <p:nvPr/>
        </p:nvSpPr>
        <p:spPr>
          <a:xfrm xmlns:a="http://schemas.openxmlformats.org/drawingml/2006/main">
            <a:off x="6572250" y="247650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Docker, GitHub Actions, Trivy, GHCR</a:t>
            </a:r>
          </a:p>
        </p:txBody>
      </p:sp>
      <p:sp>
        <p:nvSpPr>
          <p:cNvPr id="10" name="">
            <a:extLst xmlns:a="http://schemas.openxmlformats.org/drawingml/2006/main">
              <a:ext uri="{FF2B5EF4-FFF2-40B4-BE49-F238E27FC236}">
                <a16:creationId xmlns:a16="http://schemas.microsoft.com/office/drawing/2014/main" id="{2E9D252B-7F83-47C1-BBFA-B61380DA199E}"/>
              </a:ext>
            </a:extLst>
          </p:cNvPr>
          <p:cNvSpPr>
            <a:spLocks xmlns:a="http://schemas.openxmlformats.org/drawingml/2006/main" noGrp="1"/>
          </p:cNvSpPr>
          <p:nvPr/>
        </p:nvSpPr>
        <p:spPr>
          <a:xfrm xmlns:a="http://schemas.openxmlformats.org/drawingml/2006/main">
            <a:off x="6572250" y="32194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Terraform, AWS EKS, Helm, Argo CD</a:t>
            </a:r>
          </a:p>
        </p:txBody>
      </p:sp>
      <p:sp>
        <p:nvSpPr>
          <p:cNvPr id="11" name="">
            <a:extLst xmlns:a="http://schemas.openxmlformats.org/drawingml/2006/main">
              <a:ext uri="{FF2B5EF4-FFF2-40B4-BE49-F238E27FC236}">
                <a16:creationId xmlns:a16="http://schemas.microsoft.com/office/drawing/2014/main" id="{07120905-4CB2-4E71-8AE9-5AADC269E639}"/>
              </a:ext>
            </a:extLst>
          </p:cNvPr>
          <p:cNvSpPr>
            <a:spLocks xmlns:a="http://schemas.openxmlformats.org/drawingml/2006/main" noGrp="1"/>
          </p:cNvSpPr>
          <p:nvPr/>
        </p:nvSpPr>
        <p:spPr>
          <a:xfrm xmlns:a="http://schemas.openxmlformats.org/drawingml/2006/main">
            <a:off x="6572250" y="396240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ALB Ingress, EBS CSI, CPU HPA</a:t>
            </a:r>
          </a:p>
        </p:txBody>
      </p:sp>
      <p:sp>
        <p:nvSpPr>
          <p:cNvPr id="12" name="">
            <a:extLst xmlns:a="http://schemas.openxmlformats.org/drawingml/2006/main">
              <a:ext uri="{FF2B5EF4-FFF2-40B4-BE49-F238E27FC236}">
                <a16:creationId xmlns:a16="http://schemas.microsoft.com/office/drawing/2014/main" id="{E3409BDD-F9E7-43A5-B66E-878F6E5538D9}"/>
              </a:ext>
            </a:extLst>
          </p:cNvPr>
          <p:cNvSpPr>
            <a:spLocks xmlns:a="http://schemas.openxmlformats.org/drawingml/2006/main" noGrp="1"/>
          </p:cNvSpPr>
          <p:nvPr/>
        </p:nvSpPr>
        <p:spPr>
          <a:xfrm xmlns:a="http://schemas.openxmlformats.org/drawingml/2006/main">
            <a:off x="6572250" y="47053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Prometheus and Grafana</a:t>
            </a:r>
          </a:p>
        </p:txBody>
      </p:sp>
    </p:spTree>
    <p:extLst>
      <p:ext uri="{BB962C8B-B14F-4D97-AF65-F5344CB8AC3E}">
        <p14:creationId xmlns:p14="http://schemas.microsoft.com/office/powerpoint/2010/main" val="1290884971"/>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D5C5EE81-D289-4B35-8F4D-703D4FECCCD1}"/>
              </a:ext>
            </a:extLst>
          </p:cNvPr>
          <p:cNvCxnSpPr>
            <a:stCxn xmlns:a="http://schemas.openxmlformats.org/drawingml/2006/main" id="8" idx="1"/>
            <a:endCxn xmlns:a="http://schemas.openxmlformats.org/drawingml/2006/main" id="9" idx="3"/>
          </p:cNvCxnSpPr>
          <p:nvPr/>
        </p:nvCxnSpPr>
        <p:spPr>
          <a:xfrm xmlns:a="http://schemas.openxmlformats.org/drawingml/2006/main" flipH="1">
            <a:off x="5095875" y="4381500"/>
            <a:ext cx="523875" cy="0"/>
          </a:xfrm>
          <a:prstGeom xmlns:a="http://schemas.openxmlformats.org/drawingml/2006/main" prst="straightConnector1">
            <a:avLst/>
          </a:prstGeom>
          <a:ln xmlns:a="http://schemas.openxmlformats.org/drawingml/2006/main" w="19050">
            <a:solidFill>
              <a:srgbClr val="98A2B3"/>
            </a:solidFill>
            <a:tailEnd type="arrow" w="med" len="med"/>
          </a:ln>
        </p:spPr>
      </p:cxnSp>
      <p:cxnSp>
        <p:nvCxnSpPr>
          <p:cNvPr id="14" name="">
            <a:extLst xmlns:a="http://schemas.openxmlformats.org/drawingml/2006/main">
              <a:ext uri="{FF2B5EF4-FFF2-40B4-BE49-F238E27FC236}">
                <a16:creationId xmlns:a16="http://schemas.microsoft.com/office/drawing/2014/main" id="{ED619A1C-ED7C-4E3B-BAB5-08C003CE57B8}"/>
              </a:ext>
            </a:extLst>
          </p:cNvPr>
          <p:cNvCxnSpPr>
            <a:stCxn xmlns:a="http://schemas.openxmlformats.org/drawingml/2006/main" id="6" idx="2"/>
            <a:endCxn xmlns:a="http://schemas.openxmlformats.org/drawingml/2006/main" id="8" idx="0"/>
          </p:cNvCxnSpPr>
          <p:nvPr/>
        </p:nvCxnSpPr>
        <p:spPr>
          <a:xfrm xmlns:a="http://schemas.openxmlformats.org/drawingml/2006/main" flipH="1">
            <a:off x="6596063" y="2857500"/>
            <a:ext cx="2476500" cy="1143000"/>
          </a:xfrm>
          <a:prstGeom xmlns:a="http://schemas.openxmlformats.org/drawingml/2006/main" prst="bentConnector4">
            <a:avLst>
              <a:gd name="adj1" fmla="val 0"/>
              <a:gd name="adj2" fmla="val 50000"/>
            </a:avLst>
          </a:prstGeom>
          <a:ln xmlns:a="http://schemas.openxmlformats.org/drawingml/2006/main" w="19050">
            <a:solidFill>
              <a:srgbClr val="98A2B3"/>
            </a:solidFill>
            <a:tailEnd type="arrow" w="med" len="med"/>
          </a:ln>
        </p:spPr>
      </p:cxnSp>
      <p:cxnSp>
        <p:nvCxnSpPr>
          <p:cNvPr id="13" name="">
            <a:extLst xmlns:a="http://schemas.openxmlformats.org/drawingml/2006/main">
              <a:ext uri="{FF2B5EF4-FFF2-40B4-BE49-F238E27FC236}">
                <a16:creationId xmlns:a16="http://schemas.microsoft.com/office/drawing/2014/main" id="{448EE9D7-1AAD-427F-8306-15DDD5A9C500}"/>
              </a:ext>
            </a:extLst>
          </p:cNvPr>
          <p:cNvCxnSpPr>
            <a:stCxn xmlns:a="http://schemas.openxmlformats.org/drawingml/2006/main" id="6" idx="2"/>
            <a:endCxn xmlns:a="http://schemas.openxmlformats.org/drawingml/2006/main" id="7" idx="0"/>
          </p:cNvCxnSpPr>
          <p:nvPr/>
        </p:nvCxnSpPr>
        <p:spPr>
          <a:xfrm xmlns:a="http://schemas.openxmlformats.org/drawingml/2006/main">
            <a:off x="9072563" y="2857500"/>
            <a:ext cx="0" cy="1143000"/>
          </a:xfrm>
          <a:prstGeom xmlns:a="http://schemas.openxmlformats.org/drawingml/2006/main" prst="straightConnector1">
            <a:avLst/>
          </a:prstGeom>
          <a:ln xmlns:a="http://schemas.openxmlformats.org/drawingml/2006/main" w="19050">
            <a:solidFill>
              <a:srgbClr val="98A2B3"/>
            </a:solidFill>
            <a:tailEnd type="arrow" w="med" len="med"/>
          </a:ln>
        </p:spPr>
      </p:cxnSp>
      <p:cxnSp>
        <p:nvCxnSpPr>
          <p:cNvPr id="12" name="">
            <a:extLst xmlns:a="http://schemas.openxmlformats.org/drawingml/2006/main">
              <a:ext uri="{FF2B5EF4-FFF2-40B4-BE49-F238E27FC236}">
                <a16:creationId xmlns:a16="http://schemas.microsoft.com/office/drawing/2014/main" id="{BD499C12-1D25-4D61-8AA7-F6FE0FFB7986}"/>
              </a:ext>
            </a:extLst>
          </p:cNvPr>
          <p:cNvCxnSpPr>
            <a:stCxn xmlns:a="http://schemas.openxmlformats.org/drawingml/2006/main" id="5" idx="3"/>
            <a:endCxn xmlns:a="http://schemas.openxmlformats.org/drawingml/2006/main" id="6" idx="1"/>
          </p:cNvCxnSpPr>
          <p:nvPr/>
        </p:nvCxnSpPr>
        <p:spPr>
          <a:xfrm xmlns:a="http://schemas.openxmlformats.org/drawingml/2006/main">
            <a:off x="7572375" y="2476500"/>
            <a:ext cx="523875" cy="0"/>
          </a:xfrm>
          <a:prstGeom xmlns:a="http://schemas.openxmlformats.org/drawingml/2006/main" prst="straightConnector1">
            <a:avLst/>
          </a:prstGeom>
          <a:ln xmlns:a="http://schemas.openxmlformats.org/drawingml/2006/main" w="19050">
            <a:solidFill>
              <a:srgbClr val="98A2B3"/>
            </a:solidFill>
            <a:tailEnd type="arrow" w="med" len="med"/>
          </a:ln>
        </p:spPr>
      </p:cxnSp>
      <p:cxnSp>
        <p:nvCxnSpPr>
          <p:cNvPr id="11" name="">
            <a:extLst xmlns:a="http://schemas.openxmlformats.org/drawingml/2006/main">
              <a:ext uri="{FF2B5EF4-FFF2-40B4-BE49-F238E27FC236}">
                <a16:creationId xmlns:a16="http://schemas.microsoft.com/office/drawing/2014/main" id="{FFC232CC-0D68-4237-9F17-1B8F63FD8027}"/>
              </a:ext>
            </a:extLst>
          </p:cNvPr>
          <p:cNvCxnSpPr>
            <a:stCxn xmlns:a="http://schemas.openxmlformats.org/drawingml/2006/main" id="4" idx="3"/>
            <a:endCxn xmlns:a="http://schemas.openxmlformats.org/drawingml/2006/main" id="5" idx="1"/>
          </p:cNvCxnSpPr>
          <p:nvPr/>
        </p:nvCxnSpPr>
        <p:spPr>
          <a:xfrm xmlns:a="http://schemas.openxmlformats.org/drawingml/2006/main">
            <a:off x="5095875" y="2476500"/>
            <a:ext cx="523875" cy="0"/>
          </a:xfrm>
          <a:prstGeom xmlns:a="http://schemas.openxmlformats.org/drawingml/2006/main" prst="straightConnector1">
            <a:avLst/>
          </a:prstGeom>
          <a:ln xmlns:a="http://schemas.openxmlformats.org/drawingml/2006/main" w="19050">
            <a:solidFill>
              <a:srgbClr val="98A2B3"/>
            </a:solidFill>
            <a:tailEnd type="arrow" w="med" len="med"/>
          </a:ln>
        </p:spPr>
      </p:cxnSp>
      <p:cxnSp>
        <p:nvCxnSpPr>
          <p:cNvPr id="10" name="">
            <a:extLst xmlns:a="http://schemas.openxmlformats.org/drawingml/2006/main">
              <a:ext uri="{FF2B5EF4-FFF2-40B4-BE49-F238E27FC236}">
                <a16:creationId xmlns:a16="http://schemas.microsoft.com/office/drawing/2014/main" id="{140E455B-F131-4D8C-A20A-4F0CCB6C1E35}"/>
              </a:ext>
            </a:extLst>
          </p:cNvPr>
          <p:cNvCxnSpPr>
            <a:stCxn xmlns:a="http://schemas.openxmlformats.org/drawingml/2006/main" id="3" idx="3"/>
            <a:endCxn xmlns:a="http://schemas.openxmlformats.org/drawingml/2006/main" id="4" idx="1"/>
          </p:cNvCxnSpPr>
          <p:nvPr/>
        </p:nvCxnSpPr>
        <p:spPr>
          <a:xfrm xmlns:a="http://schemas.openxmlformats.org/drawingml/2006/main">
            <a:off x="2638425" y="2476500"/>
            <a:ext cx="504825" cy="0"/>
          </a:xfrm>
          <a:prstGeom xmlns:a="http://schemas.openxmlformats.org/drawingml/2006/main" prst="straightConnector1">
            <a:avLst/>
          </a:prstGeom>
          <a:ln xmlns:a="http://schemas.openxmlformats.org/drawingml/2006/main" w="19050">
            <a:solidFill>
              <a:srgbClr val="98A2B3"/>
            </a:solidFill>
            <a:tailEnd type="arrow" w="med" len="med"/>
          </a:ln>
        </p:spPr>
      </p:cxnSp>
      <p:sp>
        <p:nvSpPr>
          <p:cNvPr id="17" name="">
            <a:extLst xmlns:a="http://schemas.openxmlformats.org/drawingml/2006/main">
              <a:ext uri="{FF2B5EF4-FFF2-40B4-BE49-F238E27FC236}">
                <a16:creationId xmlns:a16="http://schemas.microsoft.com/office/drawing/2014/main" id="{9E3C94D5-95E2-4840-94E5-4F7EAD0950AE}"/>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B5D63446-CDAA-4816-B40B-0442FF236623}"/>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320C033C-8416-4FA5-871A-608486DBE97C}"/>
              </a:ext>
            </a:extLst>
          </p:cNvPr>
          <p:cNvSpPr>
            <a:spLocks xmlns:a="http://schemas.openxmlformats.org/drawingml/2006/main" noGrp="1"/>
          </p:cNvSpPr>
          <p:nvPr/>
        </p:nvSpPr>
        <p:spPr>
          <a:xfrm xmlns:a="http://schemas.openxmlformats.org/drawingml/2006/main">
            <a:off x="685800" y="2095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Browser</a:t>
            </a:r>
          </a:p>
        </p:txBody>
      </p:sp>
      <p:sp>
        <p:nvSpPr>
          <p:cNvPr id="4" name="">
            <a:extLst xmlns:a="http://schemas.openxmlformats.org/drawingml/2006/main">
              <a:ext uri="{FF2B5EF4-FFF2-40B4-BE49-F238E27FC236}">
                <a16:creationId xmlns:a16="http://schemas.microsoft.com/office/drawing/2014/main" id="{3EC9BBCF-B671-41E4-8665-AE36B63A2504}"/>
              </a:ext>
            </a:extLst>
          </p:cNvPr>
          <p:cNvSpPr>
            <a:spLocks xmlns:a="http://schemas.openxmlformats.org/drawingml/2006/main" noGrp="1"/>
          </p:cNvSpPr>
          <p:nvPr/>
        </p:nvSpPr>
        <p:spPr>
          <a:xfrm xmlns:a="http://schemas.openxmlformats.org/drawingml/2006/main">
            <a:off x="3143250" y="2095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ALB Ingress</a:t>
            </a:r>
          </a:p>
        </p:txBody>
      </p:sp>
      <p:sp>
        <p:nvSpPr>
          <p:cNvPr id="5" name="">
            <a:extLst xmlns:a="http://schemas.openxmlformats.org/drawingml/2006/main">
              <a:ext uri="{FF2B5EF4-FFF2-40B4-BE49-F238E27FC236}">
                <a16:creationId xmlns:a16="http://schemas.microsoft.com/office/drawing/2014/main" id="{D50CE95F-C4E0-424F-A5B5-7A606E2C7AA7}"/>
              </a:ext>
            </a:extLst>
          </p:cNvPr>
          <p:cNvSpPr>
            <a:spLocks xmlns:a="http://schemas.openxmlformats.org/drawingml/2006/main" noGrp="1"/>
          </p:cNvSpPr>
          <p:nvPr/>
        </p:nvSpPr>
        <p:spPr>
          <a:xfrm xmlns:a="http://schemas.openxmlformats.org/drawingml/2006/main">
            <a:off x="5619750" y="2095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React / Nginx</a:t>
            </a:r>
          </a:p>
        </p:txBody>
      </p:sp>
      <p:sp>
        <p:nvSpPr>
          <p:cNvPr id="6" name="">
            <a:extLst xmlns:a="http://schemas.openxmlformats.org/drawingml/2006/main">
              <a:ext uri="{FF2B5EF4-FFF2-40B4-BE49-F238E27FC236}">
                <a16:creationId xmlns:a16="http://schemas.microsoft.com/office/drawing/2014/main" id="{34A5FFB9-5F6F-46FC-B82C-E868BE757B49}"/>
              </a:ext>
            </a:extLst>
          </p:cNvPr>
          <p:cNvSpPr>
            <a:spLocks xmlns:a="http://schemas.openxmlformats.org/drawingml/2006/main" noGrp="1"/>
          </p:cNvSpPr>
          <p:nvPr/>
        </p:nvSpPr>
        <p:spPr>
          <a:xfrm xmlns:a="http://schemas.openxmlformats.org/drawingml/2006/main">
            <a:off x="8096250" y="2095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FastAPI</a:t>
            </a:r>
          </a:p>
        </p:txBody>
      </p:sp>
      <p:sp>
        <p:nvSpPr>
          <p:cNvPr id="7" name="">
            <a:extLst xmlns:a="http://schemas.openxmlformats.org/drawingml/2006/main">
              <a:ext uri="{FF2B5EF4-FFF2-40B4-BE49-F238E27FC236}">
                <a16:creationId xmlns:a16="http://schemas.microsoft.com/office/drawing/2014/main" id="{36E84AAE-4288-4E6F-9F6B-A3B531391C0D}"/>
              </a:ext>
            </a:extLst>
          </p:cNvPr>
          <p:cNvSpPr>
            <a:spLocks xmlns:a="http://schemas.openxmlformats.org/drawingml/2006/main" noGrp="1"/>
          </p:cNvSpPr>
          <p:nvPr/>
        </p:nvSpPr>
        <p:spPr>
          <a:xfrm xmlns:a="http://schemas.openxmlformats.org/drawingml/2006/main">
            <a:off x="8096250" y="4000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PostgreSQL</a:t>
            </a:r>
          </a:p>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EBS gp3</a:t>
            </a:r>
          </a:p>
        </p:txBody>
      </p:sp>
      <p:sp>
        <p:nvSpPr>
          <p:cNvPr id="8" name="">
            <a:extLst xmlns:a="http://schemas.openxmlformats.org/drawingml/2006/main">
              <a:ext uri="{FF2B5EF4-FFF2-40B4-BE49-F238E27FC236}">
                <a16:creationId xmlns:a16="http://schemas.microsoft.com/office/drawing/2014/main" id="{6086010A-540A-4116-B98F-4B9E74FFF378}"/>
              </a:ext>
            </a:extLst>
          </p:cNvPr>
          <p:cNvSpPr>
            <a:spLocks xmlns:a="http://schemas.openxmlformats.org/drawingml/2006/main" noGrp="1"/>
          </p:cNvSpPr>
          <p:nvPr/>
        </p:nvSpPr>
        <p:spPr>
          <a:xfrm xmlns:a="http://schemas.openxmlformats.org/drawingml/2006/main">
            <a:off x="5619750" y="4000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Prometheus</a:t>
            </a:r>
          </a:p>
        </p:txBody>
      </p:sp>
      <p:sp>
        <p:nvSpPr>
          <p:cNvPr id="9" name="">
            <a:extLst xmlns:a="http://schemas.openxmlformats.org/drawingml/2006/main">
              <a:ext uri="{FF2B5EF4-FFF2-40B4-BE49-F238E27FC236}">
                <a16:creationId xmlns:a16="http://schemas.microsoft.com/office/drawing/2014/main" id="{85C03298-4359-4C5E-B400-EBDCB45ADC6C}"/>
              </a:ext>
            </a:extLst>
          </p:cNvPr>
          <p:cNvSpPr>
            <a:spLocks xmlns:a="http://schemas.openxmlformats.org/drawingml/2006/main" noGrp="1"/>
          </p:cNvSpPr>
          <p:nvPr/>
        </p:nvSpPr>
        <p:spPr>
          <a:xfrm xmlns:a="http://schemas.openxmlformats.org/drawingml/2006/main">
            <a:off x="3143250" y="4000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Grafana</a:t>
            </a:r>
          </a:p>
        </p:txBody>
      </p:sp>
      <p:sp>
        <p:nvSpPr>
          <p:cNvPr id="16" name="">
            <a:extLst xmlns:a="http://schemas.openxmlformats.org/drawingml/2006/main">
              <a:ext uri="{FF2B5EF4-FFF2-40B4-BE49-F238E27FC236}">
                <a16:creationId xmlns:a16="http://schemas.microsoft.com/office/drawing/2014/main" id="{CA4C1DB6-837B-48AB-88A2-CC148AAA89B9}"/>
              </a:ext>
            </a:extLst>
          </p:cNvPr>
          <p:cNvSpPr>
            <a:spLocks xmlns:a="http://schemas.openxmlformats.org/drawingml/2006/main" noGrp="1"/>
          </p:cNvSpPr>
          <p:nvPr/>
        </p:nvSpPr>
        <p:spPr>
          <a:xfrm xmlns:a="http://schemas.openxmlformats.org/drawingml/2006/main">
            <a:off x="685800" y="5476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054"/>
                </a:solidFill>
                <a:latin typeface="Arial"/>
                <a:ea typeface="Arial"/>
                <a:cs typeface="Arial"/>
              </a:defRPr>
            </a:defPPr>
          </a:lstStyle>
          <a:p xmlns:a="http://schemas.openxmlformats.org/drawingml/2006/main">
            <a:pPr>
              <a:defRPr sz="2025" b="0">
                <a:solidFill>
                  <a:srgbClr val="344054"/>
                </a:solidFill>
                <a:latin typeface="Arial"/>
                <a:ea typeface="Arial"/>
                <a:cs typeface="Arial"/>
              </a:defRPr>
            </a:pPr>
            <a:r>
              <a:rPr sz="2025" b="0">
                <a:solidFill>
                  <a:srgbClr val="344054"/>
                </a:solidFill>
                <a:latin typeface="Arial"/>
                <a:ea typeface="Arial"/>
                <a:cs typeface="Arial"/>
              </a:rPr>
              <a:t>ALB routes /api to FastAPI and / to the frontend.</a:t>
            </a:r>
          </a:p>
        </p:txBody>
      </p:sp>
    </p:spTree>
    <p:extLst>
      <p:ext uri="{BB962C8B-B14F-4D97-AF65-F5344CB8AC3E}">
        <p14:creationId xmlns:p14="http://schemas.microsoft.com/office/powerpoint/2010/main" val="40679711"/>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A92B2E-2095-4148-99ED-576302A96250}"/>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CI and security gates</a:t>
            </a:r>
          </a:p>
        </p:txBody>
      </p:sp>
      <p:sp>
        <p:nvSpPr>
          <p:cNvPr id="2" name="">
            <a:extLst xmlns:a="http://schemas.openxmlformats.org/drawingml/2006/main">
              <a:ext uri="{FF2B5EF4-FFF2-40B4-BE49-F238E27FC236}">
                <a16:creationId xmlns:a16="http://schemas.microsoft.com/office/drawing/2014/main" id="{CF7CA7E5-758D-4F4E-858E-64A839E398FE}"/>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E630E81A-E108-4F27-8203-E202F1841977}"/>
              </a:ext>
            </a:extLst>
          </p:cNvPr>
          <p:cNvSpPr>
            <a:spLocks xmlns:a="http://schemas.openxmlformats.org/drawingml/2006/main" noGrp="1"/>
          </p:cNvSpPr>
          <p:nvPr/>
        </p:nvSpPr>
        <p:spPr>
          <a:xfrm xmlns:a="http://schemas.openxmlformats.org/drawingml/2006/main">
            <a:off x="685800" y="18097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1. Run 25 API tests and build the locked frontend.</a:t>
            </a:r>
          </a:p>
        </p:txBody>
      </p:sp>
      <p:sp>
        <p:nvSpPr>
          <p:cNvPr id="4" name="">
            <a:extLst xmlns:a="http://schemas.openxmlformats.org/drawingml/2006/main">
              <a:ext uri="{FF2B5EF4-FFF2-40B4-BE49-F238E27FC236}">
                <a16:creationId xmlns:a16="http://schemas.microsoft.com/office/drawing/2014/main" id="{32BF4D58-0AE6-4536-B1FB-B910690E699B}"/>
              </a:ext>
            </a:extLst>
          </p:cNvPr>
          <p:cNvSpPr>
            <a:spLocks xmlns:a="http://schemas.openxmlformats.org/drawingml/2006/main" noGrp="1"/>
          </p:cNvSpPr>
          <p:nvPr/>
        </p:nvSpPr>
        <p:spPr>
          <a:xfrm xmlns:a="http://schemas.openxmlformats.org/drawingml/2006/main">
            <a:off x="685800" y="271462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2. Validate Helm templates and Terraform configuration.</a:t>
            </a:r>
          </a:p>
        </p:txBody>
      </p:sp>
      <p:sp>
        <p:nvSpPr>
          <p:cNvPr id="5" name="">
            <a:extLst xmlns:a="http://schemas.openxmlformats.org/drawingml/2006/main">
              <a:ext uri="{FF2B5EF4-FFF2-40B4-BE49-F238E27FC236}">
                <a16:creationId xmlns:a16="http://schemas.microsoft.com/office/drawing/2014/main" id="{383BB481-A49B-4495-B939-27D1A7A7F72B}"/>
              </a:ext>
            </a:extLst>
          </p:cNvPr>
          <p:cNvSpPr>
            <a:spLocks xmlns:a="http://schemas.openxmlformats.org/drawingml/2006/main" noGrp="1"/>
          </p:cNvSpPr>
          <p:nvPr/>
        </p:nvSpPr>
        <p:spPr>
          <a:xfrm xmlns:a="http://schemas.openxmlformats.org/drawingml/2006/main">
            <a:off x="685800" y="3619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3. Build both images and scan HIGH / CRITICAL findings.</a:t>
            </a:r>
          </a:p>
        </p:txBody>
      </p:sp>
      <p:sp>
        <p:nvSpPr>
          <p:cNvPr id="6" name="">
            <a:extLst xmlns:a="http://schemas.openxmlformats.org/drawingml/2006/main">
              <a:ext uri="{FF2B5EF4-FFF2-40B4-BE49-F238E27FC236}">
                <a16:creationId xmlns:a16="http://schemas.microsoft.com/office/drawing/2014/main" id="{EE3EE5D7-B47E-4358-9C5A-04B3F5AB917F}"/>
              </a:ext>
            </a:extLst>
          </p:cNvPr>
          <p:cNvSpPr>
            <a:spLocks xmlns:a="http://schemas.openxmlformats.org/drawingml/2006/main" noGrp="1"/>
          </p:cNvSpPr>
          <p:nvPr/>
        </p:nvSpPr>
        <p:spPr>
          <a:xfrm xmlns:a="http://schemas.openxmlformats.org/drawingml/2006/main">
            <a:off x="685800" y="452437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4. Publish matching Git commit SHA tags after both scans pass.</a:t>
            </a:r>
          </a:p>
        </p:txBody>
      </p:sp>
    </p:spTree>
    <p:extLst>
      <p:ext uri="{BB962C8B-B14F-4D97-AF65-F5344CB8AC3E}">
        <p14:creationId xmlns:p14="http://schemas.microsoft.com/office/powerpoint/2010/main" val="683072460"/>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DA2DEE-4D5F-402A-AEB1-3BF93AD6F667}"/>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AWS infrastructure</a:t>
            </a:r>
          </a:p>
        </p:txBody>
      </p:sp>
      <p:sp>
        <p:nvSpPr>
          <p:cNvPr id="2" name="">
            <a:extLst xmlns:a="http://schemas.openxmlformats.org/drawingml/2006/main">
              <a:ext uri="{FF2B5EF4-FFF2-40B4-BE49-F238E27FC236}">
                <a16:creationId xmlns:a16="http://schemas.microsoft.com/office/drawing/2014/main" id="{B9B5F6F4-182A-45A2-98AA-76D8BDE57278}"/>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5D7575B-E549-4C7F-994B-D4F6A26833CE}"/>
              </a:ext>
            </a:extLst>
          </p:cNvPr>
          <p:cNvSpPr>
            <a:spLocks xmlns:a="http://schemas.openxmlformats.org/drawingml/2006/main" noGrp="1"/>
          </p:cNvSpPr>
          <p:nvPr/>
        </p:nvSpPr>
        <p:spPr>
          <a:xfrm xmlns:a="http://schemas.openxmlformats.org/drawingml/2006/main">
            <a:off x="685800" y="176212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Sydney region: ap-southeast-2; two availability zones.</a:t>
            </a:r>
          </a:p>
        </p:txBody>
      </p:sp>
      <p:sp>
        <p:nvSpPr>
          <p:cNvPr id="4" name="">
            <a:extLst xmlns:a="http://schemas.openxmlformats.org/drawingml/2006/main">
              <a:ext uri="{FF2B5EF4-FFF2-40B4-BE49-F238E27FC236}">
                <a16:creationId xmlns:a16="http://schemas.microsoft.com/office/drawing/2014/main" id="{F64EA879-8DCF-4AA3-B7A4-D7D440205589}"/>
              </a:ext>
            </a:extLst>
          </p:cNvPr>
          <p:cNvSpPr>
            <a:spLocks xmlns:a="http://schemas.openxmlformats.org/drawingml/2006/main" noGrp="1"/>
          </p:cNvSpPr>
          <p:nvPr/>
        </p:nvSpPr>
        <p:spPr>
          <a:xfrm xmlns:a="http://schemas.openxmlformats.org/drawingml/2006/main">
            <a:off x="685800" y="26670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Public subnets serve the ALB; workers use private subnets.</a:t>
            </a:r>
          </a:p>
        </p:txBody>
      </p:sp>
      <p:sp>
        <p:nvSpPr>
          <p:cNvPr id="5" name="">
            <a:extLst xmlns:a="http://schemas.openxmlformats.org/drawingml/2006/main">
              <a:ext uri="{FF2B5EF4-FFF2-40B4-BE49-F238E27FC236}">
                <a16:creationId xmlns:a16="http://schemas.microsoft.com/office/drawing/2014/main" id="{A5AED358-4C02-4555-A5B5-922D7074AB0C}"/>
              </a:ext>
            </a:extLst>
          </p:cNvPr>
          <p:cNvSpPr>
            <a:spLocks xmlns:a="http://schemas.openxmlformats.org/drawingml/2006/main" noGrp="1"/>
          </p:cNvSpPr>
          <p:nvPr/>
        </p:nvSpPr>
        <p:spPr>
          <a:xfrm xmlns:a="http://schemas.openxmlformats.org/drawingml/2006/main">
            <a:off x="685800" y="357187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EKS 1.35 and two managed worker nodes.</a:t>
            </a:r>
          </a:p>
        </p:txBody>
      </p:sp>
      <p:sp>
        <p:nvSpPr>
          <p:cNvPr id="6" name="">
            <a:extLst xmlns:a="http://schemas.openxmlformats.org/drawingml/2006/main">
              <a:ext uri="{FF2B5EF4-FFF2-40B4-BE49-F238E27FC236}">
                <a16:creationId xmlns:a16="http://schemas.microsoft.com/office/drawing/2014/main" id="{88D8ADDD-8434-47F0-B035-7D37F68635EC}"/>
              </a:ext>
            </a:extLst>
          </p:cNvPr>
          <p:cNvSpPr>
            <a:spLocks xmlns:a="http://schemas.openxmlformats.org/drawingml/2006/main" noGrp="1"/>
          </p:cNvSpPr>
          <p:nvPr/>
        </p:nvSpPr>
        <p:spPr>
          <a:xfrm xmlns:a="http://schemas.openxmlformats.org/drawingml/2006/main">
            <a:off x="685800" y="44767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A NAT gateway, gp3 storage, and workload IAM roles support the lab.</a:t>
            </a:r>
          </a:p>
        </p:txBody>
      </p:sp>
    </p:spTree>
    <p:extLst>
      <p:ext uri="{BB962C8B-B14F-4D97-AF65-F5344CB8AC3E}">
        <p14:creationId xmlns:p14="http://schemas.microsoft.com/office/powerpoint/2010/main" val="1465209594"/>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1A7C38-9373-4A6A-A8DC-011A9AC31668}"/>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Kubernetes and GitOps</a:t>
            </a:r>
          </a:p>
        </p:txBody>
      </p:sp>
      <p:sp>
        <p:nvSpPr>
          <p:cNvPr id="2" name="">
            <a:extLst xmlns:a="http://schemas.openxmlformats.org/drawingml/2006/main">
              <a:ext uri="{FF2B5EF4-FFF2-40B4-BE49-F238E27FC236}">
                <a16:creationId xmlns:a16="http://schemas.microsoft.com/office/drawing/2014/main" id="{8BF4E968-88ED-45D4-96B8-CB55DA976B2D}"/>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2CBE5AA5-7091-468D-9E12-D8597BAA329D}"/>
              </a:ext>
            </a:extLst>
          </p:cNvPr>
          <p:cNvSpPr>
            <a:spLocks xmlns:a="http://schemas.openxmlformats.org/drawingml/2006/main" noGrp="1"/>
          </p:cNvSpPr>
          <p:nvPr/>
        </p:nvSpPr>
        <p:spPr>
          <a:xfrm xmlns:a="http://schemas.openxmlformats.org/drawingml/2006/main">
            <a:off x="685800" y="176212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Git stores the desired image SHA and environment values.</a:t>
            </a:r>
          </a:p>
        </p:txBody>
      </p:sp>
      <p:sp>
        <p:nvSpPr>
          <p:cNvPr id="4" name="">
            <a:extLst xmlns:a="http://schemas.openxmlformats.org/drawingml/2006/main">
              <a:ext uri="{FF2B5EF4-FFF2-40B4-BE49-F238E27FC236}">
                <a16:creationId xmlns:a16="http://schemas.microsoft.com/office/drawing/2014/main" id="{6CAF4A50-49A5-45C7-BA10-6FC0165F29C3}"/>
              </a:ext>
            </a:extLst>
          </p:cNvPr>
          <p:cNvSpPr>
            <a:spLocks xmlns:a="http://schemas.openxmlformats.org/drawingml/2006/main" noGrp="1"/>
          </p:cNvSpPr>
          <p:nvPr/>
        </p:nvSpPr>
        <p:spPr>
          <a:xfrm xmlns:a="http://schemas.openxmlformats.org/drawingml/2006/main">
            <a:off x="685800" y="26670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Argo CD reconciles the chart and reports Synced / Healthy.</a:t>
            </a:r>
          </a:p>
        </p:txBody>
      </p:sp>
      <p:sp>
        <p:nvSpPr>
          <p:cNvPr id="5" name="">
            <a:extLst xmlns:a="http://schemas.openxmlformats.org/drawingml/2006/main">
              <a:ext uri="{FF2B5EF4-FFF2-40B4-BE49-F238E27FC236}">
                <a16:creationId xmlns:a16="http://schemas.microsoft.com/office/drawing/2014/main" id="{6EA970CA-D88C-4848-A3E0-01508E45B7DA}"/>
              </a:ext>
            </a:extLst>
          </p:cNvPr>
          <p:cNvSpPr>
            <a:spLocks xmlns:a="http://schemas.openxmlformats.org/drawingml/2006/main" noGrp="1"/>
          </p:cNvSpPr>
          <p:nvPr/>
        </p:nvSpPr>
        <p:spPr>
          <a:xfrm xmlns:a="http://schemas.openxmlformats.org/drawingml/2006/main">
            <a:off x="685800" y="357187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Readiness and liveness probes control traffic and recovery.</a:t>
            </a:r>
          </a:p>
        </p:txBody>
      </p:sp>
      <p:sp>
        <p:nvSpPr>
          <p:cNvPr id="6" name="">
            <a:extLst xmlns:a="http://schemas.openxmlformats.org/drawingml/2006/main">
              <a:ext uri="{FF2B5EF4-FFF2-40B4-BE49-F238E27FC236}">
                <a16:creationId xmlns:a16="http://schemas.microsoft.com/office/drawing/2014/main" id="{63DD11F5-AD06-4942-8012-A5BC609D1157}"/>
              </a:ext>
            </a:extLst>
          </p:cNvPr>
          <p:cNvSpPr>
            <a:spLocks xmlns:a="http://schemas.openxmlformats.org/drawingml/2006/main" noGrp="1"/>
          </p:cNvSpPr>
          <p:nvPr/>
        </p:nvSpPr>
        <p:spPr>
          <a:xfrm xmlns:a="http://schemas.openxmlformats.org/drawingml/2006/main">
            <a:off x="685800" y="44767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Metrics Server supports the CPU HPA; EBS CSI persists the database.</a:t>
            </a:r>
          </a:p>
        </p:txBody>
      </p:sp>
    </p:spTree>
    <p:extLst>
      <p:ext uri="{BB962C8B-B14F-4D97-AF65-F5344CB8AC3E}">
        <p14:creationId xmlns:p14="http://schemas.microsoft.com/office/powerpoint/2010/main" val="239861731"/>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727D57-21DD-4CE1-9F91-988B6291A8AB}"/>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Observability</a:t>
            </a:r>
          </a:p>
        </p:txBody>
      </p:sp>
      <p:sp>
        <p:nvSpPr>
          <p:cNvPr id="2" name="">
            <a:extLst xmlns:a="http://schemas.openxmlformats.org/drawingml/2006/main">
              <a:ext uri="{FF2B5EF4-FFF2-40B4-BE49-F238E27FC236}">
                <a16:creationId xmlns:a16="http://schemas.microsoft.com/office/drawing/2014/main" id="{4F12D2C5-54F3-4927-A033-9685F22478B5}"/>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CBBB1498-D4BE-41C4-A371-2C6CDA02580C}"/>
              </a:ext>
            </a:extLst>
          </p:cNvPr>
          <p:cNvSpPr>
            <a:spLocks xmlns:a="http://schemas.openxmlformats.org/drawingml/2006/main" noGrp="1"/>
          </p:cNvSpPr>
          <p:nvPr/>
        </p:nvSpPr>
        <p:spPr>
          <a:xfrm xmlns:a="http://schemas.openxmlformats.org/drawingml/2006/main">
            <a:off x="685800" y="17145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6B70"/>
                </a:solidFill>
                <a:latin typeface="Arial"/>
                <a:ea typeface="Arial"/>
                <a:cs typeface="Arial"/>
              </a:defRPr>
            </a:defPPr>
          </a:lstStyle>
          <a:p xmlns:a="http://schemas.openxmlformats.org/drawingml/2006/main">
            <a:pPr>
              <a:defRPr sz="2550" b="1">
                <a:solidFill>
                  <a:srgbClr val="176B70"/>
                </a:solidFill>
                <a:latin typeface="Arial"/>
                <a:ea typeface="Arial"/>
                <a:cs typeface="Arial"/>
              </a:defRPr>
            </a:pPr>
            <a:r>
              <a:rPr sz="2550" b="1">
                <a:solidFill>
                  <a:srgbClr val="176B70"/>
                </a:solidFill>
                <a:latin typeface="Arial"/>
                <a:ea typeface="Arial"/>
                <a:cs typeface="Arial"/>
              </a:rPr>
              <a:t>FastAPI /metrics</a:t>
            </a:r>
          </a:p>
        </p:txBody>
      </p:sp>
      <p:sp>
        <p:nvSpPr>
          <p:cNvPr id="4" name="">
            <a:extLst xmlns:a="http://schemas.openxmlformats.org/drawingml/2006/main">
              <a:ext uri="{FF2B5EF4-FFF2-40B4-BE49-F238E27FC236}">
                <a16:creationId xmlns:a16="http://schemas.microsoft.com/office/drawing/2014/main" id="{621FCDB3-EEC3-4080-B820-554B9AABC1A3}"/>
              </a:ext>
            </a:extLst>
          </p:cNvPr>
          <p:cNvSpPr>
            <a:spLocks xmlns:a="http://schemas.openxmlformats.org/drawingml/2006/main" noGrp="1"/>
          </p:cNvSpPr>
          <p:nvPr/>
        </p:nvSpPr>
        <p:spPr>
          <a:xfrm xmlns:a="http://schemas.openxmlformats.org/drawingml/2006/main">
            <a:off x="685800" y="2428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ServiceMonitor discovers the backend HTTP Service.</a:t>
            </a:r>
          </a:p>
        </p:txBody>
      </p:sp>
      <p:sp>
        <p:nvSpPr>
          <p:cNvPr id="5" name="">
            <a:extLst xmlns:a="http://schemas.openxmlformats.org/drawingml/2006/main">
              <a:ext uri="{FF2B5EF4-FFF2-40B4-BE49-F238E27FC236}">
                <a16:creationId xmlns:a16="http://schemas.microsoft.com/office/drawing/2014/main" id="{72F44292-7AC7-4C58-B305-5C0360108F6C}"/>
              </a:ext>
            </a:extLst>
          </p:cNvPr>
          <p:cNvSpPr>
            <a:spLocks xmlns:a="http://schemas.openxmlformats.org/drawingml/2006/main" noGrp="1"/>
          </p:cNvSpPr>
          <p:nvPr/>
        </p:nvSpPr>
        <p:spPr>
          <a:xfrm xmlns:a="http://schemas.openxmlformats.org/drawingml/2006/main">
            <a:off x="685800" y="3333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Prometheus collects request rate, errors, and latency.</a:t>
            </a:r>
          </a:p>
        </p:txBody>
      </p:sp>
      <p:sp>
        <p:nvSpPr>
          <p:cNvPr id="6" name="">
            <a:extLst xmlns:a="http://schemas.openxmlformats.org/drawingml/2006/main">
              <a:ext uri="{FF2B5EF4-FFF2-40B4-BE49-F238E27FC236}">
                <a16:creationId xmlns:a16="http://schemas.microsoft.com/office/drawing/2014/main" id="{381D14A0-152D-43E9-B201-61B2275BE18D}"/>
              </a:ext>
            </a:extLst>
          </p:cNvPr>
          <p:cNvSpPr>
            <a:spLocks xmlns:a="http://schemas.openxmlformats.org/drawingml/2006/main" noGrp="1"/>
          </p:cNvSpPr>
          <p:nvPr/>
        </p:nvSpPr>
        <p:spPr>
          <a:xfrm xmlns:a="http://schemas.openxmlformats.org/drawingml/2006/main">
            <a:off x="685800" y="4238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Grafana presents three application panels.</a:t>
            </a:r>
          </a:p>
        </p:txBody>
      </p:sp>
      <p:sp>
        <p:nvSpPr>
          <p:cNvPr id="7" name="">
            <a:extLst xmlns:a="http://schemas.openxmlformats.org/drawingml/2006/main">
              <a:ext uri="{FF2B5EF4-FFF2-40B4-BE49-F238E27FC236}">
                <a16:creationId xmlns:a16="http://schemas.microsoft.com/office/drawing/2014/main" id="{FD4F9319-3969-4F25-8E01-A73EE1D70A33}"/>
              </a:ext>
            </a:extLst>
          </p:cNvPr>
          <p:cNvSpPr>
            <a:spLocks xmlns:a="http://schemas.openxmlformats.org/drawingml/2006/main" noGrp="1"/>
          </p:cNvSpPr>
          <p:nvPr/>
        </p:nvSpPr>
        <p:spPr>
          <a:xfrm xmlns:a="http://schemas.openxmlformats.org/drawingml/2006/main">
            <a:off x="685800" y="5238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344054"/>
                </a:solidFill>
                <a:latin typeface="Arial"/>
                <a:ea typeface="Arial"/>
                <a:cs typeface="Arial"/>
              </a:defRPr>
            </a:defPPr>
          </a:lstStyle>
          <a:p xmlns:a="http://schemas.openxmlformats.org/drawingml/2006/main">
            <a:pPr>
              <a:defRPr sz="1950" b="0">
                <a:solidFill>
                  <a:srgbClr val="344054"/>
                </a:solidFill>
                <a:latin typeface="Arial"/>
                <a:ea typeface="Arial"/>
                <a:cs typeface="Arial"/>
              </a:defRPr>
            </a:pPr>
            <a:r>
              <a:rPr sz="1950" b="0">
                <a:solidFill>
                  <a:srgbClr val="344054"/>
                </a:solidFill>
                <a:latin typeface="Arial"/>
                <a:ea typeface="Arial"/>
                <a:cs typeface="Arial"/>
              </a:rPr>
              <a:t>The HPA uses CPU metrics; traffic alone does not prove scaling.</a:t>
            </a:r>
          </a:p>
        </p:txBody>
      </p:sp>
    </p:spTree>
    <p:extLst>
      <p:ext uri="{BB962C8B-B14F-4D97-AF65-F5344CB8AC3E}">
        <p14:creationId xmlns:p14="http://schemas.microsoft.com/office/powerpoint/2010/main" val="1095620400"/>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60D4F8-C6E9-4233-9167-026683DB794D}"/>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Troubleshooting lab</a:t>
            </a:r>
          </a:p>
        </p:txBody>
      </p:sp>
      <p:sp>
        <p:nvSpPr>
          <p:cNvPr id="2" name="">
            <a:extLst xmlns:a="http://schemas.openxmlformats.org/drawingml/2006/main">
              <a:ext uri="{FF2B5EF4-FFF2-40B4-BE49-F238E27FC236}">
                <a16:creationId xmlns:a16="http://schemas.microsoft.com/office/drawing/2014/main" id="{2754FCB8-3A7C-4C07-9B66-3F63E84AE020}"/>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18FFE8C8-ED73-45C3-ADD0-CC1DFE98FB34}"/>
              </a:ext>
            </a:extLst>
          </p:cNvPr>
          <p:cNvSpPr>
            <a:spLocks xmlns:a="http://schemas.openxmlformats.org/drawingml/2006/main" noGrp="1"/>
          </p:cNvSpPr>
          <p:nvPr/>
        </p:nvSpPr>
        <p:spPr>
          <a:xfrm xmlns:a="http://schemas.openxmlformats.org/drawingml/2006/main">
            <a:off x="685800" y="1809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6B70"/>
                </a:solidFill>
                <a:latin typeface="Arial"/>
                <a:ea typeface="Arial"/>
                <a:cs typeface="Arial"/>
              </a:defRPr>
            </a:defPPr>
          </a:lstStyle>
          <a:p xmlns:a="http://schemas.openxmlformats.org/drawingml/2006/main">
            <a:pPr>
              <a:defRPr sz="2550" b="1">
                <a:solidFill>
                  <a:srgbClr val="176B70"/>
                </a:solidFill>
                <a:latin typeface="Arial"/>
                <a:ea typeface="Arial"/>
                <a:cs typeface="Arial"/>
              </a:defRPr>
            </a:pPr>
            <a:r>
              <a:rPr sz="2550" b="1">
                <a:solidFill>
                  <a:srgbClr val="176B70"/>
                </a:solidFill>
                <a:latin typeface="Arial"/>
                <a:ea typeface="Arial"/>
                <a:cs typeface="Arial"/>
              </a:rPr>
              <a:t>ImagePullBackOff</a:t>
            </a:r>
          </a:p>
        </p:txBody>
      </p:sp>
      <p:sp>
        <p:nvSpPr>
          <p:cNvPr id="4" name="">
            <a:extLst xmlns:a="http://schemas.openxmlformats.org/drawingml/2006/main">
              <a:ext uri="{FF2B5EF4-FFF2-40B4-BE49-F238E27FC236}">
                <a16:creationId xmlns:a16="http://schemas.microsoft.com/office/drawing/2014/main" id="{F6614BEE-F54A-476C-AA56-AEF40887A839}"/>
              </a:ext>
            </a:extLst>
          </p:cNvPr>
          <p:cNvSpPr>
            <a:spLocks xmlns:a="http://schemas.openxmlformats.org/drawingml/2006/main" noGrp="1"/>
          </p:cNvSpPr>
          <p:nvPr/>
        </p:nvSpPr>
        <p:spPr>
          <a:xfrm xmlns:a="http://schemas.openxmlformats.org/drawingml/2006/main">
            <a:off x="685800" y="2476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Inspect Pod events, then correct the image repository or tag.</a:t>
            </a:r>
          </a:p>
        </p:txBody>
      </p:sp>
      <p:sp>
        <p:nvSpPr>
          <p:cNvPr id="5" name="">
            <a:extLst xmlns:a="http://schemas.openxmlformats.org/drawingml/2006/main">
              <a:ext uri="{FF2B5EF4-FFF2-40B4-BE49-F238E27FC236}">
                <a16:creationId xmlns:a16="http://schemas.microsoft.com/office/drawing/2014/main" id="{9FB09DAE-566C-4ED9-B062-450F8B71587E}"/>
              </a:ext>
            </a:extLst>
          </p:cNvPr>
          <p:cNvSpPr>
            <a:spLocks xmlns:a="http://schemas.openxmlformats.org/drawingml/2006/main" noGrp="1"/>
          </p:cNvSpPr>
          <p:nvPr/>
        </p:nvSpPr>
        <p:spPr>
          <a:xfrm xmlns:a="http://schemas.openxmlformats.org/drawingml/2006/main">
            <a:off x="685800" y="3571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6B70"/>
                </a:solidFill>
                <a:latin typeface="Arial"/>
                <a:ea typeface="Arial"/>
                <a:cs typeface="Arial"/>
              </a:defRPr>
            </a:defPPr>
          </a:lstStyle>
          <a:p xmlns:a="http://schemas.openxmlformats.org/drawingml/2006/main">
            <a:pPr>
              <a:defRPr sz="2550" b="1">
                <a:solidFill>
                  <a:srgbClr val="176B70"/>
                </a:solidFill>
                <a:latin typeface="Arial"/>
                <a:ea typeface="Arial"/>
                <a:cs typeface="Arial"/>
              </a:defRPr>
            </a:pPr>
            <a:r>
              <a:rPr sz="2550" b="1">
                <a:solidFill>
                  <a:srgbClr val="176B70"/>
                </a:solidFill>
                <a:latin typeface="Arial"/>
                <a:ea typeface="Arial"/>
                <a:cs typeface="Arial"/>
              </a:rPr>
              <a:t>Service has no endpoints</a:t>
            </a:r>
          </a:p>
        </p:txBody>
      </p:sp>
      <p:sp>
        <p:nvSpPr>
          <p:cNvPr id="6" name="">
            <a:extLst xmlns:a="http://schemas.openxmlformats.org/drawingml/2006/main">
              <a:ext uri="{FF2B5EF4-FFF2-40B4-BE49-F238E27FC236}">
                <a16:creationId xmlns:a16="http://schemas.microsoft.com/office/drawing/2014/main" id="{D1A08D58-027B-40A7-8325-495D7E3C6568}"/>
              </a:ext>
            </a:extLst>
          </p:cNvPr>
          <p:cNvSpPr>
            <a:spLocks xmlns:a="http://schemas.openxmlformats.org/drawingml/2006/main" noGrp="1"/>
          </p:cNvSpPr>
          <p:nvPr/>
        </p:nvSpPr>
        <p:spPr>
          <a:xfrm xmlns:a="http://schemas.openxmlformats.org/drawingml/2006/main">
            <a:off x="685800" y="42386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Compare Pod labels and Service selectors, then verify EndpointSlices.</a:t>
            </a:r>
          </a:p>
        </p:txBody>
      </p:sp>
    </p:spTree>
    <p:extLst>
      <p:ext uri="{BB962C8B-B14F-4D97-AF65-F5344CB8AC3E}">
        <p14:creationId xmlns:p14="http://schemas.microsoft.com/office/powerpoint/2010/main" val="1108744729"/>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67E9636-F2AC-4BD0-9F3E-E0150F192657}"/>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Validation and cleanup</a:t>
            </a:r>
          </a:p>
        </p:txBody>
      </p:sp>
      <p:sp>
        <p:nvSpPr>
          <p:cNvPr id="2" name="">
            <a:extLst xmlns:a="http://schemas.openxmlformats.org/drawingml/2006/main">
              <a:ext uri="{FF2B5EF4-FFF2-40B4-BE49-F238E27FC236}">
                <a16:creationId xmlns:a16="http://schemas.microsoft.com/office/drawing/2014/main" id="{440EC79B-8F06-4C04-99EE-2EC2BC6CADDE}"/>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1FBA692-33DC-4A44-AD98-3E80A7BB355B}"/>
              </a:ext>
            </a:extLst>
          </p:cNvPr>
          <p:cNvSpPr>
            <a:spLocks xmlns:a="http://schemas.openxmlformats.org/drawingml/2006/main" noGrp="1"/>
          </p:cNvSpPr>
          <p:nvPr/>
        </p:nvSpPr>
        <p:spPr>
          <a:xfrm xmlns:a="http://schemas.openxmlformats.org/drawingml/2006/main">
            <a:off x="685800" y="17621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Local checks cover API behavior, migration, builds, and non-root users.</a:t>
            </a:r>
          </a:p>
        </p:txBody>
      </p:sp>
      <p:sp>
        <p:nvSpPr>
          <p:cNvPr id="4" name="">
            <a:extLst xmlns:a="http://schemas.openxmlformats.org/drawingml/2006/main">
              <a:ext uri="{FF2B5EF4-FFF2-40B4-BE49-F238E27FC236}">
                <a16:creationId xmlns:a16="http://schemas.microsoft.com/office/drawing/2014/main" id="{399F45F9-CCF4-4ED2-81EB-70BB6208254B}"/>
              </a:ext>
            </a:extLst>
          </p:cNvPr>
          <p:cNvSpPr>
            <a:spLocks xmlns:a="http://schemas.openxmlformats.org/drawingml/2006/main" noGrp="1"/>
          </p:cNvSpPr>
          <p:nvPr/>
        </p:nvSpPr>
        <p:spPr>
          <a:xfrm xmlns:a="http://schemas.openxmlformats.org/drawingml/2006/main">
            <a:off x="685800" y="27146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Cloud checks cover Pod readiness, Ingress, Argo CD, and live metrics.</a:t>
            </a:r>
          </a:p>
        </p:txBody>
      </p:sp>
      <p:sp>
        <p:nvSpPr>
          <p:cNvPr id="5" name="">
            <a:extLst xmlns:a="http://schemas.openxmlformats.org/drawingml/2006/main">
              <a:ext uri="{FF2B5EF4-FFF2-40B4-BE49-F238E27FC236}">
                <a16:creationId xmlns:a16="http://schemas.microsoft.com/office/drawing/2014/main" id="{4743577D-F44B-4817-B48A-B28DBE0D793A}"/>
              </a:ext>
            </a:extLst>
          </p:cNvPr>
          <p:cNvSpPr>
            <a:spLocks xmlns:a="http://schemas.openxmlformats.org/drawingml/2006/main" noGrp="1"/>
          </p:cNvSpPr>
          <p:nvPr/>
        </p:nvSpPr>
        <p:spPr>
          <a:xfrm xmlns:a="http://schemas.openxmlformats.org/drawingml/2006/main">
            <a:off x="685800" y="36671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Save logs and screenshots before deleting temporary resources.</a:t>
            </a:r>
          </a:p>
        </p:txBody>
      </p:sp>
      <p:sp>
        <p:nvSpPr>
          <p:cNvPr id="6" name="">
            <a:extLst xmlns:a="http://schemas.openxmlformats.org/drawingml/2006/main">
              <a:ext uri="{FF2B5EF4-FFF2-40B4-BE49-F238E27FC236}">
                <a16:creationId xmlns:a16="http://schemas.microsoft.com/office/drawing/2014/main" id="{81487EC7-34F8-4804-85B7-A49B335857E6}"/>
              </a:ext>
            </a:extLst>
          </p:cNvPr>
          <p:cNvSpPr>
            <a:spLocks xmlns:a="http://schemas.openxmlformats.org/drawingml/2006/main" noGrp="1"/>
          </p:cNvSpPr>
          <p:nvPr/>
        </p:nvSpPr>
        <p:spPr>
          <a:xfrm xmlns:a="http://schemas.openxmlformats.org/drawingml/2006/main">
            <a:off x="685800" y="46196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Stop reconciliation, remove ALB and app volumes, then destroy Terraform.</a:t>
            </a:r>
          </a:p>
        </p:txBody>
      </p:sp>
    </p:spTree>
    <p:extLst>
      <p:ext uri="{BB962C8B-B14F-4D97-AF65-F5344CB8AC3E}">
        <p14:creationId xmlns:p14="http://schemas.microsoft.com/office/powerpoint/2010/main" val="1795058130"/>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747635-3820-4B41-AE3C-F4FDCC9EC263}"/>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Key learnings</a:t>
            </a:r>
          </a:p>
        </p:txBody>
      </p:sp>
      <p:sp>
        <p:nvSpPr>
          <p:cNvPr id="2" name="">
            <a:extLst xmlns:a="http://schemas.openxmlformats.org/drawingml/2006/main">
              <a:ext uri="{FF2B5EF4-FFF2-40B4-BE49-F238E27FC236}">
                <a16:creationId xmlns:a16="http://schemas.microsoft.com/office/drawing/2014/main" id="{F3584560-E6A3-44AF-B048-54151976D305}"/>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EFC4B7F2-83AA-42F9-80E1-0EA435150F48}"/>
              </a:ext>
            </a:extLst>
          </p:cNvPr>
          <p:cNvSpPr>
            <a:spLocks xmlns:a="http://schemas.openxmlformats.org/drawingml/2006/main" noGrp="1"/>
          </p:cNvSpPr>
          <p:nvPr/>
        </p:nvSpPr>
        <p:spPr>
          <a:xfrm xmlns:a="http://schemas.openxmlformats.org/drawingml/2006/main">
            <a:off x="685800" y="17621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A successful local build does not prove a working cloud deployment.</a:t>
            </a:r>
          </a:p>
        </p:txBody>
      </p:sp>
      <p:sp>
        <p:nvSpPr>
          <p:cNvPr id="4" name="">
            <a:extLst xmlns:a="http://schemas.openxmlformats.org/drawingml/2006/main">
              <a:ext uri="{FF2B5EF4-FFF2-40B4-BE49-F238E27FC236}">
                <a16:creationId xmlns:a16="http://schemas.microsoft.com/office/drawing/2014/main" id="{A746D447-B390-4416-AA4C-54D45EDCA5A8}"/>
              </a:ext>
            </a:extLst>
          </p:cNvPr>
          <p:cNvSpPr>
            <a:spLocks xmlns:a="http://schemas.openxmlformats.org/drawingml/2006/main" noGrp="1"/>
          </p:cNvSpPr>
          <p:nvPr/>
        </p:nvSpPr>
        <p:spPr>
          <a:xfrm xmlns:a="http://schemas.openxmlformats.org/drawingml/2006/main">
            <a:off x="685800" y="27146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Commit SHA tags connect the source, registry, and deployed workload.</a:t>
            </a:r>
          </a:p>
        </p:txBody>
      </p:sp>
      <p:sp>
        <p:nvSpPr>
          <p:cNvPr id="5" name="">
            <a:extLst xmlns:a="http://schemas.openxmlformats.org/drawingml/2006/main">
              <a:ext uri="{FF2B5EF4-FFF2-40B4-BE49-F238E27FC236}">
                <a16:creationId xmlns:a16="http://schemas.microsoft.com/office/drawing/2014/main" id="{A564B131-FCAA-4687-960F-56F79C4B1B7B}"/>
              </a:ext>
            </a:extLst>
          </p:cNvPr>
          <p:cNvSpPr>
            <a:spLocks xmlns:a="http://schemas.openxmlformats.org/drawingml/2006/main" noGrp="1"/>
          </p:cNvSpPr>
          <p:nvPr/>
        </p:nvSpPr>
        <p:spPr>
          <a:xfrm xmlns:a="http://schemas.openxmlformats.org/drawingml/2006/main">
            <a:off x="685800" y="36671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Health probes, storage, and monitoring need live verification.</a:t>
            </a:r>
          </a:p>
        </p:txBody>
      </p:sp>
      <p:sp>
        <p:nvSpPr>
          <p:cNvPr id="6" name="">
            <a:extLst xmlns:a="http://schemas.openxmlformats.org/drawingml/2006/main">
              <a:ext uri="{FF2B5EF4-FFF2-40B4-BE49-F238E27FC236}">
                <a16:creationId xmlns:a16="http://schemas.microsoft.com/office/drawing/2014/main" id="{BE369139-1015-4ED5-8FA3-6169F7887745}"/>
              </a:ext>
            </a:extLst>
          </p:cNvPr>
          <p:cNvSpPr>
            <a:spLocks xmlns:a="http://schemas.openxmlformats.org/drawingml/2006/main" noGrp="1"/>
          </p:cNvSpPr>
          <p:nvPr/>
        </p:nvSpPr>
        <p:spPr>
          <a:xfrm xmlns:a="http://schemas.openxmlformats.org/drawingml/2006/main">
            <a:off x="685800" y="46196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Reproducible setup and verified cleanup are part of the project.</a:t>
            </a:r>
          </a:p>
        </p:txBody>
      </p:sp>
    </p:spTree>
    <p:extLst>
      <p:ext uri="{BB962C8B-B14F-4D97-AF65-F5344CB8AC3E}">
        <p14:creationId xmlns:p14="http://schemas.microsoft.com/office/powerpoint/2010/main" val="3667444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2026-10-16T14:47:28.0500000Z</dcterms:created>
  <dcterms:modified xsi:type="dcterms:W3CDTF">2026-10-16T14:47:28.0500000Z</dcterms:modified>
</coreProperties>
</file>